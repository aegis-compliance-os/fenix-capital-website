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00503000000020004" pitchFamily="2" charset="0"/>
      <p:bold r:id="rId10"/>
      <p:italic r:id="rId11"/>
      <p:boldItalic r:id="rId12"/>
    </p:embeddedFont>
    <p:embeddedFont>
      <p:font typeface="Inter ExtraBold" panose="02000503000000020004" pitchFamily="2" charset="0"/>
      <p:bold r:id="rId13"/>
      <p:italic r:id="rId14"/>
      <p:boldItalic r:id="rId15"/>
    </p:embeddedFont>
    <p:embeddedFont>
      <p:font typeface="Inter Medium" panose="02000503000000020004" pitchFamily="2" charset="0"/>
      <p:regular r:id="rId16"/>
      <p:bold r:id="rId17"/>
      <p:italic r:id="rId18"/>
      <p:boldItalic r:id="rId19"/>
    </p:embeddedFont>
    <p:embeddedFont>
      <p:font typeface="Inter SemiBold" panose="02000503000000020004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1"/>
  </p:normalViewPr>
  <p:slideViewPr>
    <p:cSldViewPr snapToGrid="0">
      <p:cViewPr varScale="1">
        <p:scale>
          <a:sx n="149" d="100"/>
          <a:sy n="149" d="100"/>
        </p:scale>
        <p:origin x="46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46686663_0_2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246686663_0_2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246686663_0_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246686663_0_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246686663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246686663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246686663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246686663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2466866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246686663_0_9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246686663_0_6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246686663_0_6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11" Type="http://schemas.openxmlformats.org/officeDocument/2006/relationships/image" Target="../media/image16.jpg"/><Relationship Id="rId5" Type="http://schemas.openxmlformats.org/officeDocument/2006/relationships/image" Target="../media/image10.png"/><Relationship Id="rId10" Type="http://schemas.openxmlformats.org/officeDocument/2006/relationships/image" Target="../media/image15.jpg"/><Relationship Id="rId4" Type="http://schemas.openxmlformats.org/officeDocument/2006/relationships/image" Target="../media/image7.jpg"/><Relationship Id="rId9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55" name="Google Shape;55;p1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" name="Google Shape;57;p13"/>
          <p:cNvGrpSpPr/>
          <p:nvPr/>
        </p:nvGrpSpPr>
        <p:grpSpPr>
          <a:xfrm>
            <a:off x="381000" y="1333500"/>
            <a:ext cx="8382000" cy="3238500"/>
            <a:chOff x="381000" y="1333500"/>
            <a:chExt cx="8382000" cy="3238500"/>
          </a:xfrm>
        </p:grpSpPr>
        <p:sp>
          <p:nvSpPr>
            <p:cNvPr id="58" name="Google Shape;58;p13"/>
            <p:cNvSpPr/>
            <p:nvPr/>
          </p:nvSpPr>
          <p:spPr>
            <a:xfrm>
              <a:off x="381000" y="1333500"/>
              <a:ext cx="8382000" cy="3238500"/>
            </a:xfrm>
            <a:prstGeom prst="roundRect">
              <a:avLst>
                <a:gd name="adj" fmla="val 4705"/>
              </a:avLst>
            </a:prstGeom>
            <a:solidFill>
              <a:srgbClr val="1E293B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9" name="Google Shape;59;p13" descr="A cinematic, high-tech visual of a digital bridge connecting Estonia and the USA. Neon blue glowing data streams, silicon circuitry patterns, and subtle cyber-industrial aesthetic. Sleek and professional.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524500" y="1333500"/>
              <a:ext cx="3238500" cy="3238500"/>
            </a:xfrm>
            <a:prstGeom prst="roundRect">
              <a:avLst>
                <a:gd name="adj" fmla="val 4705"/>
              </a:avLst>
            </a:prstGeom>
            <a:noFill/>
            <a:ln>
              <a:noFill/>
            </a:ln>
          </p:spPr>
        </p:pic>
        <p:sp>
          <p:nvSpPr>
            <p:cNvPr id="60" name="Google Shape;60;p13"/>
            <p:cNvSpPr txBox="1"/>
            <p:nvPr/>
          </p:nvSpPr>
          <p:spPr>
            <a:xfrm>
              <a:off x="762000" y="1714500"/>
              <a:ext cx="4381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40" b="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Fenix Capital &amp; Invest Estonia:</a:t>
              </a:r>
              <a:endParaRPr sz="2240" b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96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Transatlantic Defense Bridge</a:t>
              </a:r>
              <a:endParaRPr sz="196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762000" y="3000375"/>
              <a:ext cx="571500" cy="381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13"/>
            <p:cNvSpPr txBox="1"/>
            <p:nvPr/>
          </p:nvSpPr>
          <p:spPr>
            <a:xfrm>
              <a:off x="762000" y="3238500"/>
              <a:ext cx="4381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Connecting Estonia’s defense and DeepTech ecosystem to US capital, procurement pathways, and prime contractor networks</a:t>
              </a:r>
              <a:endParaRPr sz="1600" b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" name="Google Shape;63;p13"/>
          <p:cNvGrpSpPr/>
          <p:nvPr/>
        </p:nvGrpSpPr>
        <p:grpSpPr>
          <a:xfrm>
            <a:off x="500150" y="381000"/>
            <a:ext cx="4762500" cy="571500"/>
            <a:chOff x="-1143000" y="381000"/>
            <a:chExt cx="4762500" cy="571500"/>
          </a:xfrm>
        </p:grpSpPr>
        <p:pic>
          <p:nvPicPr>
            <p:cNvPr id="64" name="Google Shape;64;p13" descr="The Invest Estonia official corporate logo, clean white version on transparent background."/>
            <p:cNvPicPr preferRelativeResize="0"/>
            <p:nvPr/>
          </p:nvPicPr>
          <p:blipFill rotWithShape="1">
            <a:blip r:embed="rId7">
              <a:alphaModFix/>
            </a:blip>
            <a:srcRect l="1513" t="16667" r="1522" b="16667"/>
            <a:stretch/>
          </p:blipFill>
          <p:spPr>
            <a:xfrm>
              <a:off x="-1143000" y="3810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3" descr="The Startup Estonia official corporate logo, clean white version on transparent background."/>
            <p:cNvPicPr preferRelativeResize="0"/>
            <p:nvPr/>
          </p:nvPicPr>
          <p:blipFill rotWithShape="1">
            <a:blip r:embed="rId8">
              <a:alphaModFix/>
            </a:blip>
            <a:srcRect l="1513" t="16667" r="1522" b="16667"/>
            <a:stretch/>
          </p:blipFill>
          <p:spPr>
            <a:xfrm>
              <a:off x="2095500" y="38100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" name="Google Shape;66;p13" title="fenix-capital-logo-light_1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762700" y="381000"/>
            <a:ext cx="2000292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43750" y="285750"/>
            <a:ext cx="160020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" name="Google Shape;72;p14"/>
          <p:cNvGrpSpPr/>
          <p:nvPr/>
        </p:nvGrpSpPr>
        <p:grpSpPr>
          <a:xfrm>
            <a:off x="381000" y="285750"/>
            <a:ext cx="8382000" cy="571500"/>
            <a:chOff x="381000" y="285750"/>
            <a:chExt cx="8382000" cy="571500"/>
          </a:xfrm>
        </p:grpSpPr>
        <p:sp>
          <p:nvSpPr>
            <p:cNvPr id="73" name="Google Shape;73;p14"/>
            <p:cNvSpPr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14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Our Investment Thesis</a:t>
              </a:r>
              <a:endParaRPr sz="3200" b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sp>
        <p:nvSpPr>
          <p:cNvPr id="75" name="Google Shape;75;p14"/>
          <p:cNvSpPr/>
          <p:nvPr/>
        </p:nvSpPr>
        <p:spPr>
          <a:xfrm>
            <a:off x="381000" y="904875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6" name="Google Shape;76;p14"/>
          <p:cNvGrpSpPr/>
          <p:nvPr/>
        </p:nvGrpSpPr>
        <p:grpSpPr>
          <a:xfrm>
            <a:off x="381000" y="1047750"/>
            <a:ext cx="8382000" cy="1524000"/>
            <a:chOff x="381000" y="1047750"/>
            <a:chExt cx="8382000" cy="1524000"/>
          </a:xfrm>
        </p:grpSpPr>
        <p:sp>
          <p:nvSpPr>
            <p:cNvPr id="77" name="Google Shape;77;p14"/>
            <p:cNvSpPr/>
            <p:nvPr/>
          </p:nvSpPr>
          <p:spPr>
            <a:xfrm>
              <a:off x="381000" y="1047750"/>
              <a:ext cx="8382000" cy="1524000"/>
            </a:xfrm>
            <a:prstGeom prst="roundRect">
              <a:avLst>
                <a:gd name="adj" fmla="val 10000"/>
              </a:avLst>
            </a:prstGeom>
            <a:solidFill>
              <a:srgbClr val="1E293B">
                <a:alpha val="8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666750" y="1190625"/>
              <a:ext cx="7810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Fenix Capital</a:t>
              </a:r>
              <a:r>
                <a:rPr lang="en" sz="16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is a $5M pre-seed and seed fund headquartered in Washington, DC, backing US and allied-nation defense and supply chain software companies.</a:t>
              </a:r>
              <a:endParaRPr sz="160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6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We invest in companies building mission-critical software for supply chain </a:t>
              </a:r>
              <a:r>
                <a:rPr lang="en" sz="16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visibility, compliance, and resilience,</a:t>
              </a:r>
              <a:r>
                <a:rPr lang="en" sz="1600" b="0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 across the US and allied defense industrial bases.</a:t>
              </a:r>
              <a:endParaRPr sz="1600" b="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381000" y="2714625"/>
            <a:ext cx="4095900" cy="2190900"/>
            <a:chOff x="381000" y="2714625"/>
            <a:chExt cx="4095900" cy="2190900"/>
          </a:xfrm>
        </p:grpSpPr>
        <p:sp>
          <p:nvSpPr>
            <p:cNvPr id="80" name="Google Shape;80;p14"/>
            <p:cNvSpPr/>
            <p:nvPr/>
          </p:nvSpPr>
          <p:spPr>
            <a:xfrm>
              <a:off x="381000" y="2714625"/>
              <a:ext cx="4095900" cy="2190900"/>
            </a:xfrm>
            <a:prstGeom prst="roundRect">
              <a:avLst>
                <a:gd name="adj" fmla="val 6956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571500" y="28575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Our Strategic Edge</a:t>
              </a:r>
              <a:endParaRPr sz="15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15+ years building critical mineral supply chains for the Defense Industrial Base across 40+ sector companies.</a:t>
              </a:r>
              <a:endParaRPr sz="13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This gives us pattern recognition most investors lack — spotting founders building mission-critical software before it becomes obvious.</a:t>
              </a:r>
              <a:endParaRPr sz="13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4667250" y="2714625"/>
            <a:ext cx="4095900" cy="2190900"/>
            <a:chOff x="4667250" y="2714625"/>
            <a:chExt cx="4095900" cy="2190900"/>
          </a:xfrm>
        </p:grpSpPr>
        <p:sp>
          <p:nvSpPr>
            <p:cNvPr id="83" name="Google Shape;83;p14"/>
            <p:cNvSpPr/>
            <p:nvPr/>
          </p:nvSpPr>
          <p:spPr>
            <a:xfrm>
              <a:off x="4667250" y="2714625"/>
              <a:ext cx="4095900" cy="2190900"/>
            </a:xfrm>
            <a:prstGeom prst="roundRect">
              <a:avLst>
                <a:gd name="adj" fmla="val 6956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4857750" y="28575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 b="1">
                  <a:solidFill>
                    <a:srgbClr val="F8FAFC"/>
                  </a:solidFill>
                  <a:latin typeface="Inter"/>
                  <a:ea typeface="Inter"/>
                  <a:cs typeface="Inter"/>
                  <a:sym typeface="Inter"/>
                </a:rPr>
                <a:t>Investment Focus</a:t>
              </a:r>
              <a:endParaRPr sz="1500" b="1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9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Inter"/>
                <a:buChar char="●"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Concentrated $5M fund — selective pre-seed and seed investments.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Inter"/>
                <a:buChar char="●"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Reserve capital for follow-on in top performers.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457200" lvl="0" indent="-304800" algn="l" rtl="0">
                <a:spcBef>
                  <a:spcPts val="600"/>
                </a:spcBef>
                <a:spcAft>
                  <a:spcPts val="0"/>
                </a:spcAft>
                <a:buClr>
                  <a:srgbClr val="CBD5E1"/>
                </a:buClr>
                <a:buSzPts val="1200"/>
                <a:buFont typeface="Inter"/>
                <a:buChar char="●"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LP base: family offices, HNWIs, impact investors, and defense-aligned CVCs.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5" descr="Please create an infographic that shows how Estonian Innovation Engines map to The US Strategic Opportunities, with Fenix Capital at the intersection as as a bridge between the tw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800" y="285750"/>
            <a:ext cx="160020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6"/>
          <p:cNvGrpSpPr/>
          <p:nvPr/>
        </p:nvGrpSpPr>
        <p:grpSpPr>
          <a:xfrm>
            <a:off x="381000" y="285750"/>
            <a:ext cx="6667500" cy="657225"/>
            <a:chOff x="381000" y="285750"/>
            <a:chExt cx="6667500" cy="657225"/>
          </a:xfrm>
        </p:grpSpPr>
        <p:sp>
          <p:nvSpPr>
            <p:cNvPr id="96" name="Google Shape;96;p16"/>
            <p:cNvSpPr txBox="1"/>
            <p:nvPr/>
          </p:nvSpPr>
          <p:spPr>
            <a:xfrm>
              <a:off x="381000" y="28575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70" b="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Fenix Capital: A Bridge for Allied Cooperation</a:t>
              </a:r>
              <a:endParaRPr sz="2170" b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97" name="Google Shape;97;p16"/>
            <p:cNvSpPr/>
            <p:nvPr/>
          </p:nvSpPr>
          <p:spPr>
            <a:xfrm>
              <a:off x="381000" y="904875"/>
              <a:ext cx="571500" cy="381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98;p16"/>
          <p:cNvGrpSpPr/>
          <p:nvPr/>
        </p:nvGrpSpPr>
        <p:grpSpPr>
          <a:xfrm>
            <a:off x="381000" y="1190625"/>
            <a:ext cx="8382000" cy="1428900"/>
            <a:chOff x="381000" y="1190625"/>
            <a:chExt cx="8382000" cy="1428900"/>
          </a:xfrm>
        </p:grpSpPr>
        <p:sp>
          <p:nvSpPr>
            <p:cNvPr id="99" name="Google Shape;99;p16"/>
            <p:cNvSpPr/>
            <p:nvPr/>
          </p:nvSpPr>
          <p:spPr>
            <a:xfrm>
              <a:off x="381000" y="1190625"/>
              <a:ext cx="8382000" cy="1428900"/>
            </a:xfrm>
            <a:prstGeom prst="roundRect">
              <a:avLst>
                <a:gd name="adj" fmla="val 10666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" name="Google Shape;100;p16"/>
            <p:cNvGrpSpPr/>
            <p:nvPr/>
          </p:nvGrpSpPr>
          <p:grpSpPr>
            <a:xfrm>
              <a:off x="666750" y="1381125"/>
              <a:ext cx="7715400" cy="1047900"/>
              <a:chOff x="666750" y="1381125"/>
              <a:chExt cx="7715400" cy="1047900"/>
            </a:xfrm>
          </p:grpSpPr>
          <p:sp>
            <p:nvSpPr>
              <p:cNvPr id="101" name="Google Shape;101;p16"/>
              <p:cNvSpPr txBox="1"/>
              <p:nvPr/>
            </p:nvSpPr>
            <p:spPr>
              <a:xfrm>
                <a:off x="666750" y="1433703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600" dirty="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2" name="Google Shape;102;p16"/>
              <p:cNvSpPr txBox="1"/>
              <p:nvPr/>
            </p:nvSpPr>
            <p:spPr>
              <a:xfrm>
                <a:off x="1428750" y="1381125"/>
                <a:ext cx="6953400" cy="1047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b="1" dirty="0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The Edge</a:t>
                </a:r>
                <a:endParaRPr sz="16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300" b="0" dirty="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15 years of hands-on experience in government contracting, DoD acquisitions and procurement, and building critical mineral supply chains for the US Defense Industrial Base.</a:t>
                </a:r>
                <a:endParaRPr sz="1300" b="0" dirty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3" name="Google Shape;103;p16"/>
          <p:cNvGrpSpPr/>
          <p:nvPr/>
        </p:nvGrpSpPr>
        <p:grpSpPr>
          <a:xfrm>
            <a:off x="381000" y="2809875"/>
            <a:ext cx="8382000" cy="2000100"/>
            <a:chOff x="381000" y="2809875"/>
            <a:chExt cx="8382000" cy="2000100"/>
          </a:xfrm>
        </p:grpSpPr>
        <p:sp>
          <p:nvSpPr>
            <p:cNvPr id="104" name="Google Shape;104;p16"/>
            <p:cNvSpPr/>
            <p:nvPr/>
          </p:nvSpPr>
          <p:spPr>
            <a:xfrm>
              <a:off x="381000" y="2809875"/>
              <a:ext cx="8382000" cy="2000100"/>
            </a:xfrm>
            <a:prstGeom prst="roundRect">
              <a:avLst>
                <a:gd name="adj" fmla="val 7619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" name="Google Shape;105;p16"/>
            <p:cNvGrpSpPr/>
            <p:nvPr/>
          </p:nvGrpSpPr>
          <p:grpSpPr>
            <a:xfrm>
              <a:off x="666750" y="3000375"/>
              <a:ext cx="7715400" cy="1619100"/>
              <a:chOff x="666750" y="3000375"/>
              <a:chExt cx="7715400" cy="1619100"/>
            </a:xfrm>
          </p:grpSpPr>
          <p:sp>
            <p:nvSpPr>
              <p:cNvPr id="106" name="Google Shape;106;p16"/>
              <p:cNvSpPr txBox="1"/>
              <p:nvPr/>
            </p:nvSpPr>
            <p:spPr>
              <a:xfrm>
                <a:off x="666750" y="3148203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600" dirty="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07" name="Google Shape;107;p16"/>
              <p:cNvSpPr txBox="1"/>
              <p:nvPr/>
            </p:nvSpPr>
            <p:spPr>
              <a:xfrm>
                <a:off x="1428750" y="3000375"/>
                <a:ext cx="6953400" cy="16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60" b="1">
                    <a:solidFill>
                      <a:srgbClr val="38BDF8"/>
                    </a:solidFill>
                    <a:latin typeface="Inter"/>
                    <a:ea typeface="Inter"/>
                    <a:cs typeface="Inter"/>
                    <a:sym typeface="Inter"/>
                  </a:rPr>
                  <a:t>The Execution</a:t>
                </a:r>
                <a:endParaRPr sz="136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20" b="0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As a former Army Officer, DoD Project Manager, and defense startup founder, Fenix’s Managing Director brings the operational discipline and insider network required to derisk US market entry for allied founders.</a:t>
                </a:r>
                <a:endParaRPr sz="102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0" lvl="0" indent="0" algn="l" rtl="0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" sz="1020" b="0">
                    <a:solidFill>
                      <a:srgbClr val="F8FAFC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Fenix provides the playbook for:</a:t>
                </a:r>
                <a:endParaRPr sz="1020" b="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  <a:p>
                <a:pPr marL="457200" lvl="0" indent="-287973" algn="l" rtl="0">
                  <a:spcBef>
                    <a:spcPts val="375"/>
                  </a:spcBef>
                  <a:spcAft>
                    <a:spcPts val="0"/>
                  </a:spcAft>
                  <a:buClr>
                    <a:srgbClr val="CBD5E1"/>
                  </a:buClr>
                  <a:buSzPts val="935"/>
                  <a:buFont typeface="Inter"/>
                  <a:buChar char="●"/>
                </a:pPr>
                <a:r>
                  <a:rPr lang="en" sz="93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Federal procurement navigation</a:t>
                </a:r>
                <a:endParaRPr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287973" algn="l" rtl="0">
                  <a:spcBef>
                    <a:spcPts val="300"/>
                  </a:spcBef>
                  <a:spcAft>
                    <a:spcPts val="0"/>
                  </a:spcAft>
                  <a:buClr>
                    <a:srgbClr val="CBD5E1"/>
                  </a:buClr>
                  <a:buSzPts val="935"/>
                  <a:buFont typeface="Inter"/>
                  <a:buChar char="●"/>
                </a:pPr>
                <a:r>
                  <a:rPr lang="en" sz="93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US prime contractor introductions</a:t>
                </a:r>
                <a:endParaRPr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marL="457200" lvl="0" indent="-287973" algn="l" rtl="0">
                  <a:spcBef>
                    <a:spcPts val="300"/>
                  </a:spcBef>
                  <a:spcAft>
                    <a:spcPts val="0"/>
                  </a:spcAft>
                  <a:buClr>
                    <a:srgbClr val="CBD5E1"/>
                  </a:buClr>
                  <a:buSzPts val="935"/>
                  <a:buFont typeface="Inter"/>
                  <a:buChar char="●"/>
                </a:pPr>
                <a:r>
                  <a:rPr lang="en" sz="935">
                    <a:solidFill>
                      <a:srgbClr val="CBD5E1"/>
                    </a:solidFill>
                    <a:latin typeface="Inter"/>
                    <a:ea typeface="Inter"/>
                    <a:cs typeface="Inter"/>
                    <a:sym typeface="Inter"/>
                  </a:rPr>
                  <a:t>Supply chain resilience certification</a:t>
                </a:r>
                <a:endParaRPr sz="935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800" y="285750"/>
            <a:ext cx="160020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" name="Google Shape;113;p17"/>
          <p:cNvGrpSpPr/>
          <p:nvPr/>
        </p:nvGrpSpPr>
        <p:grpSpPr>
          <a:xfrm>
            <a:off x="381000" y="285750"/>
            <a:ext cx="6667500" cy="657225"/>
            <a:chOff x="381000" y="285750"/>
            <a:chExt cx="6667500" cy="657225"/>
          </a:xfrm>
        </p:grpSpPr>
        <p:sp>
          <p:nvSpPr>
            <p:cNvPr id="114" name="Google Shape;114;p17"/>
            <p:cNvSpPr txBox="1"/>
            <p:nvPr/>
          </p:nvSpPr>
          <p:spPr>
            <a:xfrm>
              <a:off x="381000" y="28575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Our Mutual Value Proposition</a:t>
              </a:r>
              <a:endParaRPr sz="3200" b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381000" y="904875"/>
              <a:ext cx="571500" cy="381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" name="Google Shape;116;p17"/>
          <p:cNvGrpSpPr/>
          <p:nvPr/>
        </p:nvGrpSpPr>
        <p:grpSpPr>
          <a:xfrm>
            <a:off x="381000" y="1333500"/>
            <a:ext cx="4095900" cy="2476500"/>
            <a:chOff x="381000" y="1333500"/>
            <a:chExt cx="4095900" cy="2476500"/>
          </a:xfrm>
        </p:grpSpPr>
        <p:sp>
          <p:nvSpPr>
            <p:cNvPr id="117" name="Google Shape;117;p17"/>
            <p:cNvSpPr/>
            <p:nvPr/>
          </p:nvSpPr>
          <p:spPr>
            <a:xfrm>
              <a:off x="381000" y="1333500"/>
              <a:ext cx="4095900" cy="2476500"/>
            </a:xfrm>
            <a:prstGeom prst="roundRect">
              <a:avLst>
                <a:gd name="adj" fmla="val 6152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7"/>
            <p:cNvSpPr txBox="1"/>
            <p:nvPr/>
          </p:nvSpPr>
          <p:spPr>
            <a:xfrm>
              <a:off x="619125" y="1524000"/>
              <a:ext cx="3619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For Startup Estonia</a:t>
              </a:r>
              <a:endParaRPr sz="20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 US capital partner with federal access</a:t>
              </a:r>
              <a:endParaRPr sz="1300" b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Fenix actively seeks pre-seed and seed defense and DeepTech founders — and provides them direct access to US capital, federal procurement pathways, and Tier-1 prime contractor introductions.</a:t>
              </a:r>
              <a:endParaRPr sz="11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8FAFC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Startup Estonia’s network becomes the front door to Fenix’s Washington-based deal pipeline.</a:t>
              </a:r>
              <a:endParaRPr sz="1100" b="0">
                <a:solidFill>
                  <a:srgbClr val="F8FAFC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19" name="Google Shape;119;p17"/>
          <p:cNvGrpSpPr/>
          <p:nvPr/>
        </p:nvGrpSpPr>
        <p:grpSpPr>
          <a:xfrm>
            <a:off x="4667250" y="1333500"/>
            <a:ext cx="4095900" cy="2476500"/>
            <a:chOff x="4667250" y="1333500"/>
            <a:chExt cx="4095900" cy="2476500"/>
          </a:xfrm>
        </p:grpSpPr>
        <p:sp>
          <p:nvSpPr>
            <p:cNvPr id="120" name="Google Shape;120;p17"/>
            <p:cNvSpPr/>
            <p:nvPr/>
          </p:nvSpPr>
          <p:spPr>
            <a:xfrm>
              <a:off x="4667250" y="1333500"/>
              <a:ext cx="4095900" cy="2476500"/>
            </a:xfrm>
            <a:prstGeom prst="roundRect">
              <a:avLst>
                <a:gd name="adj" fmla="val 6152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7"/>
            <p:cNvSpPr txBox="1"/>
            <p:nvPr/>
          </p:nvSpPr>
          <p:spPr>
            <a:xfrm>
              <a:off x="4905375" y="1524000"/>
              <a:ext cx="36195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0">
                  <a:solidFill>
                    <a:srgbClr val="38BDF8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For Invest Estonia</a:t>
              </a:r>
              <a:endParaRPr sz="2000" b="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A curated on-ramp for your US LP network</a:t>
              </a:r>
              <a:endParaRPr sz="1300" b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  <a:p>
              <a:pPr marL="0" lvl="0" indent="0" algn="l" rtl="0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Fenix Capital gives Invest Estonia’s US-based LP network a Washington-anchored, defense-focused fund vehicle to back Baltic innovation — without the complexity of direct cross-border investment.</a:t>
              </a:r>
              <a:endParaRPr sz="11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" name="Google Shape;122;p17"/>
          <p:cNvGrpSpPr/>
          <p:nvPr/>
        </p:nvGrpSpPr>
        <p:grpSpPr>
          <a:xfrm>
            <a:off x="1428750" y="3190875"/>
            <a:ext cx="6286500" cy="571500"/>
            <a:chOff x="1428750" y="3190875"/>
            <a:chExt cx="6286500" cy="571500"/>
          </a:xfrm>
        </p:grpSpPr>
        <p:pic>
          <p:nvPicPr>
            <p:cNvPr id="123" name="Google Shape;123;p17"/>
            <p:cNvPicPr preferRelativeResize="0"/>
            <p:nvPr/>
          </p:nvPicPr>
          <p:blipFill rotWithShape="1">
            <a:blip r:embed="rId5">
              <a:alphaModFix/>
            </a:blip>
            <a:srcRect t="20234" b="20043"/>
            <a:stretch/>
          </p:blipFill>
          <p:spPr>
            <a:xfrm>
              <a:off x="1428750" y="3190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7"/>
            <p:cNvPicPr preferRelativeResize="0"/>
            <p:nvPr/>
          </p:nvPicPr>
          <p:blipFill rotWithShape="1">
            <a:blip r:embed="rId6">
              <a:alphaModFix/>
            </a:blip>
            <a:srcRect t="19518" b="19414"/>
            <a:stretch/>
          </p:blipFill>
          <p:spPr>
            <a:xfrm>
              <a:off x="6000750" y="3190875"/>
              <a:ext cx="1714500" cy="5715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5" name="Google Shape;125;p17"/>
          <p:cNvGrpSpPr/>
          <p:nvPr/>
        </p:nvGrpSpPr>
        <p:grpSpPr>
          <a:xfrm>
            <a:off x="381000" y="4000500"/>
            <a:ext cx="8382000" cy="857400"/>
            <a:chOff x="381000" y="4000500"/>
            <a:chExt cx="8382000" cy="857400"/>
          </a:xfrm>
        </p:grpSpPr>
        <p:sp>
          <p:nvSpPr>
            <p:cNvPr id="126" name="Google Shape;126;p17"/>
            <p:cNvSpPr/>
            <p:nvPr/>
          </p:nvSpPr>
          <p:spPr>
            <a:xfrm>
              <a:off x="381000" y="4000500"/>
              <a:ext cx="8382000" cy="857400"/>
            </a:xfrm>
            <a:prstGeom prst="roundRect">
              <a:avLst>
                <a:gd name="adj" fmla="val 17777"/>
              </a:avLst>
            </a:prstGeom>
            <a:solidFill>
              <a:srgbClr val="1E293B">
                <a:alpha val="9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571500" y="4000500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0">
                  <a:solidFill>
                    <a:srgbClr val="38BDF8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Baltic Deployment Target:</a:t>
              </a:r>
              <a:r>
                <a:rPr lang="en" sz="13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 Up to $1M committed to Estonian and Baltic portfolio companies over 12–18 months. Check sizes: $100K–$250K at pre-seed; follow-on reserved for top performers.</a:t>
              </a:r>
              <a:endParaRPr sz="1300" b="0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800" y="285750"/>
            <a:ext cx="1600200" cy="457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18"/>
          <p:cNvGrpSpPr/>
          <p:nvPr/>
        </p:nvGrpSpPr>
        <p:grpSpPr>
          <a:xfrm>
            <a:off x="381000" y="285750"/>
            <a:ext cx="6667500" cy="657225"/>
            <a:chOff x="381000" y="285750"/>
            <a:chExt cx="6667500" cy="657225"/>
          </a:xfrm>
        </p:grpSpPr>
        <p:sp>
          <p:nvSpPr>
            <p:cNvPr id="134" name="Google Shape;134;p18"/>
            <p:cNvSpPr txBox="1"/>
            <p:nvPr/>
          </p:nvSpPr>
          <p:spPr>
            <a:xfrm>
              <a:off x="381000" y="285750"/>
              <a:ext cx="666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0">
                  <a:solidFill>
                    <a:srgbClr val="F8FAFC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Deal Flow Alignment: Baltic Defense &amp; DeepTech</a:t>
              </a:r>
              <a:endParaRPr sz="2400" b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381000" y="904875"/>
              <a:ext cx="571500" cy="381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" name="Google Shape;136;p18"/>
          <p:cNvGrpSpPr/>
          <p:nvPr/>
        </p:nvGrpSpPr>
        <p:grpSpPr>
          <a:xfrm>
            <a:off x="381000" y="1143000"/>
            <a:ext cx="8382000" cy="999236"/>
            <a:chOff x="381000" y="1143000"/>
            <a:chExt cx="8382000" cy="999236"/>
          </a:xfrm>
        </p:grpSpPr>
        <p:sp>
          <p:nvSpPr>
            <p:cNvPr id="137" name="Google Shape;137;p18"/>
            <p:cNvSpPr/>
            <p:nvPr/>
          </p:nvSpPr>
          <p:spPr>
            <a:xfrm>
              <a:off x="381000" y="1143000"/>
              <a:ext cx="8382000" cy="952500"/>
            </a:xfrm>
            <a:prstGeom prst="roundRect">
              <a:avLst>
                <a:gd name="adj" fmla="val 16000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8"/>
            <p:cNvSpPr txBox="1"/>
            <p:nvPr/>
          </p:nvSpPr>
          <p:spPr>
            <a:xfrm>
              <a:off x="571500" y="118973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center_focus_strong</a:t>
              </a:r>
              <a:endParaRPr sz="3200" b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39" name="Google Shape;139;p18"/>
            <p:cNvSpPr txBox="1"/>
            <p:nvPr/>
          </p:nvSpPr>
          <p:spPr>
            <a:xfrm>
              <a:off x="1333500" y="1143000"/>
              <a:ext cx="7048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Focus</a:t>
              </a:r>
              <a:endParaRPr sz="14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Fenix tracks founders at the intersection of allied defense technology, maritime security, and supply chain resilience — precisely where Estonia’s DeepTech ecosystem has built durable advantages.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0" name="Google Shape;140;p18"/>
          <p:cNvGrpSpPr/>
          <p:nvPr/>
        </p:nvGrpSpPr>
        <p:grpSpPr>
          <a:xfrm>
            <a:off x="381000" y="2238375"/>
            <a:ext cx="8382000" cy="1524000"/>
            <a:chOff x="381000" y="2238375"/>
            <a:chExt cx="8382000" cy="1524000"/>
          </a:xfrm>
        </p:grpSpPr>
        <p:sp>
          <p:nvSpPr>
            <p:cNvPr id="141" name="Google Shape;141;p18"/>
            <p:cNvSpPr/>
            <p:nvPr/>
          </p:nvSpPr>
          <p:spPr>
            <a:xfrm>
              <a:off x="381000" y="2238375"/>
              <a:ext cx="8382000" cy="1524000"/>
            </a:xfrm>
            <a:prstGeom prst="roundRect">
              <a:avLst>
                <a:gd name="adj" fmla="val 10000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8"/>
            <p:cNvSpPr txBox="1"/>
            <p:nvPr/>
          </p:nvSpPr>
          <p:spPr>
            <a:xfrm>
              <a:off x="571500" y="2427986"/>
              <a:ext cx="571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3200" b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1333500" y="2333625"/>
              <a:ext cx="3500000" cy="13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Estonian Portfolio Candidates</a:t>
              </a:r>
              <a:r>
                <a:rPr lang="en" sz="11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Proven operators ready to scale into the US market:</a:t>
              </a:r>
              <a:endParaRPr sz="12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Frankenburg Technologies:</a:t>
              </a:r>
              <a:r>
                <a:rPr lang="en" sz="11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1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Defense Tech &amp; Automated Systems</a:t>
              </a:r>
              <a:endParaRPr sz="11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TELETACTICA:</a:t>
              </a:r>
              <a:r>
                <a:rPr lang="en" sz="11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1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Secure, Mission-Critical Communications</a:t>
              </a:r>
              <a:endParaRPr sz="11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GScan:</a:t>
              </a:r>
              <a:r>
                <a:rPr lang="en" sz="11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1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DeepTech Maritime Cargo Scanning &amp; Material Verification</a:t>
              </a:r>
              <a:endParaRPr sz="11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8FAFC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Waybiller:</a:t>
              </a:r>
              <a:r>
                <a:rPr lang="en" sz="11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" sz="11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Logistics Software for Heavy Logistics</a:t>
              </a:r>
              <a:endParaRPr sz="11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44" name="Google Shape;144;p18"/>
          <p:cNvGrpSpPr/>
          <p:nvPr/>
        </p:nvGrpSpPr>
        <p:grpSpPr>
          <a:xfrm>
            <a:off x="381000" y="3905250"/>
            <a:ext cx="8382000" cy="999236"/>
            <a:chOff x="381000" y="3905250"/>
            <a:chExt cx="8382000" cy="999236"/>
          </a:xfrm>
        </p:grpSpPr>
        <p:sp>
          <p:nvSpPr>
            <p:cNvPr id="145" name="Google Shape;145;p18"/>
            <p:cNvSpPr/>
            <p:nvPr/>
          </p:nvSpPr>
          <p:spPr>
            <a:xfrm>
              <a:off x="381000" y="3905250"/>
              <a:ext cx="8382000" cy="952500"/>
            </a:xfrm>
            <a:prstGeom prst="roundRect">
              <a:avLst>
                <a:gd name="adj" fmla="val 16000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8"/>
            <p:cNvSpPr txBox="1"/>
            <p:nvPr/>
          </p:nvSpPr>
          <p:spPr>
            <a:xfrm>
              <a:off x="571500" y="3951986"/>
              <a:ext cx="571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rocket_launch</a:t>
              </a:r>
              <a:endParaRPr sz="3200" b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7" name="Google Shape;147;p18"/>
            <p:cNvSpPr txBox="1"/>
            <p:nvPr/>
          </p:nvSpPr>
          <p:spPr>
            <a:xfrm>
              <a:off x="1333500" y="3905250"/>
              <a:ext cx="70485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Execution</a:t>
              </a:r>
              <a:endParaRPr sz="14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Fenix navigates vendor credentialing, federal contracting vehicles, and Tier-1 prime contractor relationships — directly accelerating time-to-contract for Estonian founders.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00" name="badge_frankenburg"/>
          <p:cNvPicPr preferRelativeResize="0"/>
          <p:nvPr/>
        </p:nvPicPr>
        <p:blipFill rotWithShape="1">
          <a:blip r:embed="rId5">
            <a:alphaModFix/>
          </a:blip>
          <a:stretch/>
        </p:blipFill>
        <p:spPr>
          <a:xfrm>
            <a:off x="5050000" y="2400000"/>
            <a:ext cx="1530000" cy="4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badge_teletactica"/>
          <p:cNvPicPr preferRelativeResize="0"/>
          <p:nvPr/>
        </p:nvPicPr>
        <p:blipFill rotWithShape="1">
          <a:blip r:embed="rId6">
            <a:alphaModFix/>
          </a:blip>
          <a:stretch/>
        </p:blipFill>
        <p:spPr>
          <a:xfrm>
            <a:off x="6680000" y="2400000"/>
            <a:ext cx="1530000" cy="4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badge_gscan"/>
          <p:cNvPicPr preferRelativeResize="0"/>
          <p:nvPr/>
        </p:nvPicPr>
        <p:blipFill rotWithShape="1">
          <a:blip r:embed="rId7">
            <a:alphaModFix/>
          </a:blip>
          <a:stretch/>
        </p:blipFill>
        <p:spPr>
          <a:xfrm>
            <a:off x="5050000" y="2930000"/>
            <a:ext cx="1530000" cy="4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badge_waybiller"/>
          <p:cNvPicPr preferRelativeResize="0"/>
          <p:nvPr/>
        </p:nvPicPr>
        <p:blipFill rotWithShape="1">
          <a:blip r:embed="rId8">
            <a:alphaModFix/>
          </a:blip>
          <a:stretch/>
        </p:blipFill>
        <p:spPr>
          <a:xfrm>
            <a:off x="6680000" y="2930000"/>
            <a:ext cx="1530000" cy="40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ref_stub_1"/>
          <p:cNvPicPr preferRelativeResize="0"/>
          <p:nvPr/>
        </p:nvPicPr>
        <p:blipFill rotWithShape="1">
          <a:blip r:embed="rId9">
            <a:alphaModFix/>
          </a:blip>
          <a:stretch/>
        </p:blipFill>
        <p:spPr>
          <a:xfrm>
            <a:off x="0" y="5500000"/>
            <a:ext cx="10" cy="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ref_stub_2"/>
          <p:cNvPicPr preferRelativeResize="0"/>
          <p:nvPr/>
        </p:nvPicPr>
        <p:blipFill rotWithShape="1">
          <a:blip r:embed="rId10">
            <a:alphaModFix/>
          </a:blip>
          <a:stretch/>
        </p:blipFill>
        <p:spPr>
          <a:xfrm>
            <a:off x="0" y="5500000"/>
            <a:ext cx="10" cy="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ref_stub_3"/>
          <p:cNvPicPr preferRelativeResize="0"/>
          <p:nvPr/>
        </p:nvPicPr>
        <p:blipFill rotWithShape="1">
          <a:blip r:embed="rId11">
            <a:alphaModFix/>
          </a:blip>
          <a:stretch/>
        </p:blipFill>
        <p:spPr>
          <a:xfrm>
            <a:off x="0" y="5500000"/>
            <a:ext cx="10" cy="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ref_stub_4"/>
          <p:cNvPicPr preferRelativeResize="0"/>
          <p:nvPr/>
        </p:nvPicPr>
        <p:blipFill rotWithShape="1">
          <a:blip r:embed="rId12">
            <a:alphaModFix/>
          </a:blip>
          <a:stretch/>
        </p:blipFill>
        <p:spPr>
          <a:xfrm>
            <a:off x="0" y="5500000"/>
            <a:ext cx="10" cy="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62800" y="285750"/>
            <a:ext cx="1600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>
            <a:spLocks noGrp="1"/>
          </p:cNvSpPr>
          <p:nvPr>
            <p:ph type="title"/>
          </p:nvPr>
        </p:nvSpPr>
        <p:spPr>
          <a:xfrm>
            <a:off x="381000" y="285750"/>
            <a:ext cx="666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40" b="0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Strategic Initiative: Allied Defense Tech Roundtable</a:t>
            </a:r>
            <a:endParaRPr sz="2040" b="0">
              <a:solidFill>
                <a:srgbClr val="F8FAFC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381000" y="904875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381000" y="1143000"/>
            <a:ext cx="8382000" cy="1094336"/>
            <a:chOff x="381000" y="1143000"/>
            <a:chExt cx="8382000" cy="1094336"/>
          </a:xfrm>
        </p:grpSpPr>
        <p:sp>
          <p:nvSpPr>
            <p:cNvPr id="156" name="Google Shape;156;p19"/>
            <p:cNvSpPr/>
            <p:nvPr/>
          </p:nvSpPr>
          <p:spPr>
            <a:xfrm>
              <a:off x="381000" y="1143000"/>
              <a:ext cx="8382000" cy="1047900"/>
            </a:xfrm>
            <a:prstGeom prst="roundRect">
              <a:avLst>
                <a:gd name="adj" fmla="val 14545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571500" y="1189736"/>
              <a:ext cx="571500" cy="104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event</a:t>
              </a:r>
              <a:endParaRPr sz="3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1333500" y="1143000"/>
              <a:ext cx="723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Proposal</a:t>
              </a:r>
              <a:endParaRPr sz="14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Fenix Capital, Invest Estonia, and Startup Estonia co-host a closed-door roundtable at the Estonian Embassy in Washington, D.C.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59" name="Google Shape;159;p19"/>
          <p:cNvGrpSpPr/>
          <p:nvPr/>
        </p:nvGrpSpPr>
        <p:grpSpPr>
          <a:xfrm>
            <a:off x="381000" y="2333625"/>
            <a:ext cx="8382000" cy="1094636"/>
            <a:chOff x="381000" y="2333625"/>
            <a:chExt cx="8382000" cy="1094636"/>
          </a:xfrm>
        </p:grpSpPr>
        <p:sp>
          <p:nvSpPr>
            <p:cNvPr id="160" name="Google Shape;160;p19"/>
            <p:cNvSpPr/>
            <p:nvPr/>
          </p:nvSpPr>
          <p:spPr>
            <a:xfrm>
              <a:off x="381000" y="2333625"/>
              <a:ext cx="8382000" cy="1047900"/>
            </a:xfrm>
            <a:prstGeom prst="roundRect">
              <a:avLst>
                <a:gd name="adj" fmla="val 14545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9"/>
            <p:cNvSpPr txBox="1"/>
            <p:nvPr/>
          </p:nvSpPr>
          <p:spPr>
            <a:xfrm>
              <a:off x="571500" y="2380361"/>
              <a:ext cx="571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2" name="Google Shape;162;p19"/>
            <p:cNvSpPr txBox="1"/>
            <p:nvPr/>
          </p:nvSpPr>
          <p:spPr>
            <a:xfrm>
              <a:off x="1333500" y="2333625"/>
              <a:ext cx="723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Room</a:t>
              </a:r>
              <a:endParaRPr sz="14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Fenix Capital’s network of military leaders, defense executives, and supply chain operators — alongside Invest Estonia’s US-based LP network and Startup Estonia’s top defense tech and DeepTech founders.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63" name="Google Shape;163;p19"/>
          <p:cNvGrpSpPr/>
          <p:nvPr/>
        </p:nvGrpSpPr>
        <p:grpSpPr>
          <a:xfrm>
            <a:off x="381000" y="3524250"/>
            <a:ext cx="8382000" cy="1094636"/>
            <a:chOff x="381000" y="3524250"/>
            <a:chExt cx="8382000" cy="1094636"/>
          </a:xfrm>
        </p:grpSpPr>
        <p:sp>
          <p:nvSpPr>
            <p:cNvPr id="164" name="Google Shape;164;p19"/>
            <p:cNvSpPr/>
            <p:nvPr/>
          </p:nvSpPr>
          <p:spPr>
            <a:xfrm>
              <a:off x="381000" y="3524250"/>
              <a:ext cx="8382000" cy="1047900"/>
            </a:xfrm>
            <a:prstGeom prst="roundRect">
              <a:avLst>
                <a:gd name="adj" fmla="val 14545"/>
              </a:avLst>
            </a:prstGeom>
            <a:solidFill>
              <a:srgbClr val="1E293B">
                <a:alpha val="8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9"/>
            <p:cNvSpPr txBox="1"/>
            <p:nvPr/>
          </p:nvSpPr>
          <p:spPr>
            <a:xfrm>
              <a:off x="571500" y="3570986"/>
              <a:ext cx="571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320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66" name="Google Shape;166;p19"/>
            <p:cNvSpPr txBox="1"/>
            <p:nvPr/>
          </p:nvSpPr>
          <p:spPr>
            <a:xfrm>
              <a:off x="1333500" y="3524250"/>
              <a:ext cx="723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38BDF8"/>
                  </a:solidFill>
                  <a:latin typeface="Inter"/>
                  <a:ea typeface="Inter"/>
                  <a:cs typeface="Inter"/>
                  <a:sym typeface="Inter"/>
                </a:rPr>
                <a:t>The Goal</a:t>
              </a:r>
              <a:endParaRPr sz="14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CBD5E1"/>
                  </a:solidFill>
                  <a:latin typeface="Inter"/>
                  <a:ea typeface="Inter"/>
                  <a:cs typeface="Inter"/>
                  <a:sym typeface="Inter"/>
                </a:rPr>
                <a:t>To open direct procurement conversations, catalyze cross-border investment, and establish Estonia as the premier allied defense tech supplier to the US market.</a:t>
              </a:r>
              <a:endParaRPr sz="1200" b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Macintosh PowerPoint</Application>
  <PresentationFormat>On-screen Show (16:9)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</vt:lpstr>
      <vt:lpstr>Arial</vt:lpstr>
      <vt:lpstr>Material Icons</vt:lpstr>
      <vt:lpstr>Inter SemiBold</vt:lpstr>
      <vt:lpstr>Inter ExtraBold</vt:lpstr>
      <vt:lpstr>Inter Medium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Strategic Initiative: Allied Defense Tech Roundtable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Dana Mincey-Breaux</cp:lastModifiedBy>
  <cp:revision>1</cp:revision>
  <dcterms:modified xsi:type="dcterms:W3CDTF">2026-05-15T16:16:44Z</dcterms:modified>
</cp:coreProperties>
</file>